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9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FF4D4-3A16-F82F-CE9B-42FC43D3C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481D76-A8BE-BBB4-DC3F-5734B1363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D19499-94AF-4794-BD7E-D964F284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0D0BB-BC45-0833-B94F-B1AEE5EC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625C18-8E4F-910A-1503-1F8A0F03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23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577CD-06D6-0749-348C-85A53C7F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3D2D0-2711-6D80-D1DF-C79F2E7D8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925A0A-2D2B-48ED-BF29-433A927B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F61075-A849-5F99-E6C8-55D852A2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FA4CF-994D-A69A-75AD-D95675CE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49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684EB-9F8A-63F7-AD28-AA244B59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6B48B-1DF0-8FAB-6AEF-C1D5F61D9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E1CC2F-5748-21C7-1818-EDBABFD3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C17F7-EDBA-0D8A-83AE-605C8ECC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EBD53-4C4E-7BAA-5727-BDD7F00D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14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FFBC8-B16F-35F1-8996-E7C35B50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747EAD-0885-09A0-D10D-0637E6039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19258-9593-B7D1-F1BE-845102497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766490-50EF-C262-C932-639438E08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8A0AE9-963A-0BFE-B7F1-66829624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A72F3-3124-CD5C-6013-07AC65CD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66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005E7-E28D-9778-88A9-A1982A7C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507BF7-68D5-3336-6B98-34E73798A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F8BF26-19F5-9E4E-32E4-34B9950CD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2C15B2-1527-5191-D811-45D36FDF6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5E953E-F3FB-BD0F-E208-927BD82A0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BCE4D0-B8BC-3729-5060-942208AC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29C873-E2E7-608C-B83C-6C16F1F0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AB2C3F-8798-7499-06AE-83D79FF9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65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56CFE-6854-202E-F959-57CB5E29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8A0789-A300-4E62-1EE7-4B88A122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5A033E-CA98-08F6-5FDB-5132D079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2C42E7-1863-67A5-985C-C6A18299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36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600279-9CB7-E357-97FC-B30C9028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B75D5E-16C0-062A-782A-9F9B3B67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073D7-A303-BC98-80F5-708D02F1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51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6AA8E-E127-CF4F-3CB9-579CDC77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65C1E-51E8-D8D9-4D8E-65474A99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1046BC-1A1D-AB66-1D85-28D0C6E48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352AED-78FA-9B7A-A1E9-ECD172EF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5A5443-16F1-378F-E5F8-9FDD42E6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6BBCA-9023-3A56-CE25-F5237661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9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7EB4C-5E31-6137-4629-CCCB11AA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E7548F-DEE0-7687-3152-006007802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55A6B-7FCE-FB41-24D3-E59288831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DDC383-9F8B-D1AE-1C2E-F09001A2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EA96D2-E644-E44A-183E-87E4C798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AE9874-BD5C-E646-2412-D5C386EBD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66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90DEA-895C-DE60-3D63-2109928D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BF14DA-637E-A276-9F11-54E7328FB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76A50-1297-9999-3F51-4EDE550B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3ACED-85D9-D8AC-BCCA-013A2333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D4D0DE-8980-8E13-6CD5-1EF4EC8E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50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D187C1-C1EE-EC81-9916-466A004AA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13479-EAB7-B8E2-6FC6-45DC50E45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DBDA1B-A0BE-1C0F-4BDB-5414CC50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5B52D-9563-7975-1435-516F729A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C7102-E61A-4416-54E2-A11C58FC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78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C40555-6FC6-AC49-F228-0B2724DD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64DFAD-5AAB-8BB5-D844-1F712C2C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045C6D-0259-44E1-AE53-980D806B0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2AE61-BB85-4F91-8EAF-670E28564D3E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F584F-3F83-9BBF-F604-2BDBF8CB5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A0077-A3F8-54E0-EC81-8DB6D4B54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2080F-9025-47BD-AA8D-81A24A06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29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yberint.com/blog/research/ransomware-annual-report-2024/?utm_source=chatgpt.com" TargetMode="Externa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80038F-9F96-2746-8056-036AD5FF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BDA50F-3A87-DA49-2D63-A2EFDC78D7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455"/>
          <a:stretch/>
        </p:blipFill>
        <p:spPr>
          <a:xfrm>
            <a:off x="1518459" y="1178778"/>
            <a:ext cx="7015942" cy="43812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D8EC48-4070-853B-24A9-E25040947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2" y="3488590"/>
            <a:ext cx="12060852" cy="2867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365EF6-06A7-7468-5B6B-E88CD5D1DCD2}"/>
              </a:ext>
            </a:extLst>
          </p:cNvPr>
          <p:cNvSpPr txBox="1"/>
          <p:nvPr/>
        </p:nvSpPr>
        <p:spPr>
          <a:xfrm>
            <a:off x="8102138" y="3999197"/>
            <a:ext cx="2371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융합보안학과</a:t>
            </a:r>
            <a:endParaRPr lang="en-US" altLang="ko-KR" dirty="0"/>
          </a:p>
          <a:p>
            <a:pPr algn="r"/>
            <a:r>
              <a:rPr lang="en-US" altLang="ko-KR" dirty="0"/>
              <a:t>2024113285</a:t>
            </a:r>
          </a:p>
          <a:p>
            <a:pPr algn="r"/>
            <a:r>
              <a:rPr lang="ko-KR" altLang="en-US" dirty="0"/>
              <a:t>강주영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A0ADEAC-B82F-F308-0142-6A6C893D973D}"/>
              </a:ext>
            </a:extLst>
          </p:cNvPr>
          <p:cNvCxnSpPr/>
          <p:nvPr/>
        </p:nvCxnSpPr>
        <p:spPr>
          <a:xfrm>
            <a:off x="1729048" y="3613266"/>
            <a:ext cx="86064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531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38407C5-DB10-8CB0-E43C-67A2A5013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D3004B-6237-A749-0C7F-513E0F11A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487" y="2039571"/>
            <a:ext cx="8186077" cy="321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88AF8FD-0A9C-C0A4-005B-3B8F597AE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"/>
            <a:ext cx="12192000" cy="68552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6A34380-C820-3973-D6FE-99D9E38CC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014" y="1424266"/>
            <a:ext cx="4171950" cy="486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446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0F19-AF87-D757-EDD4-C0D61140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8238AEE0-7D61-7D8C-FA26-969F20C56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0D73347-91B4-7B24-F852-19B08EAA88B5}"/>
              </a:ext>
            </a:extLst>
          </p:cNvPr>
          <p:cNvSpPr txBox="1"/>
          <p:nvPr/>
        </p:nvSpPr>
        <p:spPr>
          <a:xfrm>
            <a:off x="9587947" y="3571461"/>
            <a:ext cx="768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랜섬웨어</a:t>
            </a:r>
            <a:r>
              <a:rPr lang="ko-KR" altLang="en-US" dirty="0"/>
              <a:t> 사진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2050" name="Picture 2" descr="KISA 암호이용활성화 - 암호 역기능 대응 - 랜섬웨어 소개">
            <a:extLst>
              <a:ext uri="{FF2B5EF4-FFF2-40B4-BE49-F238E27FC236}">
                <a16:creationId xmlns:a16="http://schemas.microsoft.com/office/drawing/2014/main" id="{A212C84C-4947-E4CC-4FA2-05CCAB025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651" y="2076731"/>
            <a:ext cx="2929218" cy="338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BE46E0D-F75F-9862-2510-37A155872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" y="1640542"/>
            <a:ext cx="8145566" cy="468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DC19A-8443-EF6F-9537-E614545B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91DCE80-2D7C-C939-9CB9-423DED1BB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9B69BB5-1FF5-1A24-28FD-6A00C472A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28CB2E-C680-767B-B8C2-24DE4B048247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3074" name="Picture 2" descr="랜섬웨어 공격으로 독일 병원서 여성 환자 숨져 : 동아사이언스">
            <a:extLst>
              <a:ext uri="{FF2B5EF4-FFF2-40B4-BE49-F238E27FC236}">
                <a16:creationId xmlns:a16="http://schemas.microsoft.com/office/drawing/2014/main" id="{51127859-6E71-4081-0AFE-C1EB568FA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65" y="1644227"/>
            <a:ext cx="5381625" cy="394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35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2BB5-61AF-9350-63B9-D97BC9437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E60F58F-BA60-3B4F-1B31-2F77B4C6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46DC0D9-C30F-D93A-5185-38161682E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0B0C3C-51C8-9BC4-5968-15885600DDEF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7CA524-619E-C8FD-14F6-5D9E895CB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13" y="1164774"/>
            <a:ext cx="10986052" cy="529566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67BD8E1-4149-9ED4-D1F6-F026126EE0B9}"/>
              </a:ext>
            </a:extLst>
          </p:cNvPr>
          <p:cNvGrpSpPr/>
          <p:nvPr/>
        </p:nvGrpSpPr>
        <p:grpSpPr>
          <a:xfrm>
            <a:off x="1813915" y="2495420"/>
            <a:ext cx="8564170" cy="1867161"/>
            <a:chOff x="1772526" y="2570921"/>
            <a:chExt cx="8564170" cy="186716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237DEB6-1542-CE97-9E63-A7934D19B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2526" y="2570921"/>
              <a:ext cx="8564170" cy="1867161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003A1035-51FE-09E2-C797-FA66CE5409AB}"/>
                </a:ext>
              </a:extLst>
            </p:cNvPr>
            <p:cNvCxnSpPr>
              <a:cxnSpLocks/>
            </p:cNvCxnSpPr>
            <p:nvPr/>
          </p:nvCxnSpPr>
          <p:spPr>
            <a:xfrm>
              <a:off x="7239307" y="3445717"/>
              <a:ext cx="181036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673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ED70-484F-17D3-FB74-474DB7CA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679CF6AF-4E2E-5CDC-0DA8-07B7CAE9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03D257-80A0-264E-C734-A78F3D4A6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34E72D-9A90-3D38-2674-F9425E88E972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280BE2-0FD2-2A4B-D3FD-E670CF6C4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13" y="1164774"/>
            <a:ext cx="10986052" cy="52956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4B74D7-FADD-A7CD-BDD7-3208D2261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77486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F804A7-C893-4DCF-F23D-0710864C5A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3831" r="-1"/>
          <a:stretch/>
        </p:blipFill>
        <p:spPr>
          <a:xfrm>
            <a:off x="7679007" y="2817055"/>
            <a:ext cx="819534" cy="3643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43F4A9-11F6-CB05-14A0-21713336D0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489" b="26626"/>
          <a:stretch/>
        </p:blipFill>
        <p:spPr>
          <a:xfrm>
            <a:off x="3364868" y="2738935"/>
            <a:ext cx="7314564" cy="47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4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B5E0-1A90-9699-2796-4D5AE8C4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D43CAB77-40A1-8EDA-94CF-6C9D5E67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14EA1A9-894D-2408-EC6C-EA451E1B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50B976-F16F-A54D-9472-3CA2A7C22952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92F7D2-BE56-FB4A-9973-A98FE9719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13" y="1164774"/>
            <a:ext cx="10986052" cy="52956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D60BF4-46E0-6F87-7902-2DE8368E3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573" y="2081313"/>
            <a:ext cx="9781198" cy="2861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EB8CE0-AD6D-D10F-54F3-05415DC9D9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5"/>
          <a:stretch/>
        </p:blipFill>
        <p:spPr>
          <a:xfrm>
            <a:off x="-21324" y="1"/>
            <a:ext cx="12286211" cy="685572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E7DBF14-2CA9-3A4A-AEEB-BB4A796CD4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324" y="1231813"/>
            <a:ext cx="12192000" cy="467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5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C865-7E87-9B16-4E1F-FF1ACBB7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63F88855-12D1-CCF3-28CC-A84E12E26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9D2C8F3-96FA-F942-50DE-5B3AF646F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FC14F9-5FAF-8305-9155-0F28897F5E22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A992CB-6041-5042-66F7-15B787456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13" y="1164774"/>
            <a:ext cx="10986052" cy="52956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D217322-9800-4D57-E951-AE762C7B9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573" y="2081313"/>
            <a:ext cx="9781198" cy="2861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1D14BC-1655-7C88-5A03-3329C7AB9B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5"/>
          <a:stretch/>
        </p:blipFill>
        <p:spPr>
          <a:xfrm>
            <a:off x="-21324" y="1"/>
            <a:ext cx="12286211" cy="68557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65E729-A977-097A-D1B2-AAF658EA71B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13" y="1442005"/>
            <a:ext cx="11509513" cy="44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6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08F4-F13D-C103-2884-FCD29345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70900978-2EEB-B128-A04A-B621ECA46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FABA1B5-1B28-B925-B547-21E99B7D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37AFDD-63AD-CCDA-083A-7CAB28E8EA12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DB7391-FCF9-039F-3BE1-F4F6B8276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13" y="1164774"/>
            <a:ext cx="10986052" cy="52956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C00686E-49C8-2DC6-777A-7517AF660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4" y="-1"/>
            <a:ext cx="1216297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67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61AD-C977-FC63-ACAE-8F2232A9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3FE419F9-0222-74C3-CAB1-7F92D9DFA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CE2C0F2-DE78-50B0-F54D-E9391C28DEDE}"/>
              </a:ext>
            </a:extLst>
          </p:cNvPr>
          <p:cNvSpPr txBox="1"/>
          <p:nvPr/>
        </p:nvSpPr>
        <p:spPr>
          <a:xfrm>
            <a:off x="9587947" y="3571461"/>
            <a:ext cx="768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랜섬웨어</a:t>
            </a:r>
            <a:r>
              <a:rPr lang="ko-KR" altLang="en-US" dirty="0"/>
              <a:t> 사진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B3A656-E2F0-C121-9CDE-D67208F23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" y="1640542"/>
            <a:ext cx="8145566" cy="468526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97E6649-9334-83EA-8A48-A24EC26C2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" y="1704865"/>
            <a:ext cx="8064873" cy="4126505"/>
          </a:xfrm>
          <a:prstGeom prst="rect">
            <a:avLst/>
          </a:prstGeom>
        </p:spPr>
      </p:pic>
      <p:pic>
        <p:nvPicPr>
          <p:cNvPr id="6146" name="Picture 2" descr="신생아 사망사고 은폐 의혹' 의사 2명 구속영장 신청">
            <a:extLst>
              <a:ext uri="{FF2B5EF4-FFF2-40B4-BE49-F238E27FC236}">
                <a16:creationId xmlns:a16="http://schemas.microsoft.com/office/drawing/2014/main" id="{D10548C8-0A26-ADDB-208F-28B123C41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185" y="2352673"/>
            <a:ext cx="3295650" cy="28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6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660A-5ED7-19C4-50FB-2190F528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67E6E2F9-84B8-E674-0D14-63EBB954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1A00C33-F9BC-053F-35B6-A0F0D925BFD5}"/>
              </a:ext>
            </a:extLst>
          </p:cNvPr>
          <p:cNvSpPr txBox="1"/>
          <p:nvPr/>
        </p:nvSpPr>
        <p:spPr>
          <a:xfrm>
            <a:off x="9587947" y="3571461"/>
            <a:ext cx="768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랜섬웨어</a:t>
            </a:r>
            <a:r>
              <a:rPr lang="ko-KR" altLang="en-US" dirty="0"/>
              <a:t> 사진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2210C3-2265-4228-6218-894D41A2F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02" y="1039383"/>
            <a:ext cx="10542494" cy="55130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737BEE-2EC2-8B92-DA3E-A71E8A9F9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44" y="1254085"/>
            <a:ext cx="6076080" cy="46347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D2118B-8004-3B31-28BB-552F5A71F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2191999" cy="9144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5845D84-4029-15ED-BBE2-0C1B6078F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546" y="6046893"/>
            <a:ext cx="635406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11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4AB2-7B1C-2006-1AB3-B65393C9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2DADF93-74B6-3922-26E8-D52D3662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6"/>
            <a:ext cx="12192000" cy="6824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81C40CC-0FC2-0ED0-E710-719CBCF27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"/>
            <a:ext cx="12192000" cy="6855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67F09-669F-2AFB-FF88-C069E80BD7B5}"/>
              </a:ext>
            </a:extLst>
          </p:cNvPr>
          <p:cNvSpPr txBox="1"/>
          <p:nvPr/>
        </p:nvSpPr>
        <p:spPr>
          <a:xfrm>
            <a:off x="1855304" y="2570922"/>
            <a:ext cx="76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병원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5D6C19-1A56-16F3-2D54-38B575A4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13" y="1164774"/>
            <a:ext cx="10986052" cy="52956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BD7C22-9597-9564-A87F-8A11D0461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4" y="0"/>
            <a:ext cx="12162972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B71CAE-4A16-97B5-ACB0-A2203F8A5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144"/>
            <a:ext cx="12192000" cy="681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3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8DAA-7F90-05CF-CA3F-9C3730FD1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47D0E4B-B97C-4F2D-48AA-4A4442031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BB39F9C-7030-E306-2DBF-06A68B9B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2" y="3488590"/>
            <a:ext cx="12060852" cy="286787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9390C1E-C2EC-D0BB-041B-1CA07B0A8D1A}"/>
              </a:ext>
            </a:extLst>
          </p:cNvPr>
          <p:cNvCxnSpPr/>
          <p:nvPr/>
        </p:nvCxnSpPr>
        <p:spPr>
          <a:xfrm>
            <a:off x="1729048" y="3613266"/>
            <a:ext cx="86064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627DE15-2BC1-0D70-30A8-0F6A3400B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259" y="1869948"/>
            <a:ext cx="5239481" cy="17433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5F08CC-2B9B-C117-73B1-373B423FA61A}"/>
              </a:ext>
            </a:extLst>
          </p:cNvPr>
          <p:cNvSpPr txBox="1"/>
          <p:nvPr/>
        </p:nvSpPr>
        <p:spPr>
          <a:xfrm>
            <a:off x="81272" y="6277771"/>
            <a:ext cx="106315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Check Point </a:t>
            </a:r>
            <a:r>
              <a:rPr lang="en-US" altLang="ko-KR" sz="500" dirty="0" err="1">
                <a:solidFill>
                  <a:schemeClr val="bg1">
                    <a:lumMod val="65000"/>
                  </a:schemeClr>
                </a:solidFill>
              </a:rPr>
              <a:t>Cyberint</a:t>
            </a:r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500" dirty="0" err="1">
                <a:solidFill>
                  <a:schemeClr val="bg1">
                    <a:lumMod val="65000"/>
                  </a:schemeClr>
                </a:solidFill>
              </a:rPr>
              <a:t>아디</a:t>
            </a:r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500" dirty="0" err="1">
                <a:solidFill>
                  <a:schemeClr val="bg1">
                    <a:lumMod val="65000"/>
                  </a:schemeClr>
                </a:solidFill>
              </a:rPr>
              <a:t>블레이흐</a:t>
            </a:r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500" dirty="0" err="1">
                <a:solidFill>
                  <a:schemeClr val="bg1">
                    <a:lumMod val="65000"/>
                  </a:schemeClr>
                </a:solidFill>
              </a:rPr>
              <a:t>랜섬웨어</a:t>
            </a:r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 연례 보고서 </a:t>
            </a:r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2024</a:t>
            </a:r>
          </a:p>
          <a:p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https://cyberint.com/blog/research/ransomware-annual-report-2024/?utm_source=chatgpt.com</a:t>
            </a:r>
            <a:endParaRPr lang="en-US" altLang="ko-KR" sz="5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altLang="ko-KR" sz="5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아이콘 </a:t>
            </a:r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500" dirty="0" err="1">
                <a:solidFill>
                  <a:schemeClr val="bg1">
                    <a:lumMod val="65000"/>
                  </a:schemeClr>
                </a:solidFill>
              </a:rPr>
              <a:t>flaticon</a:t>
            </a:r>
            <a:endParaRPr lang="en-US" altLang="ko-KR" sz="5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사진 </a:t>
            </a:r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아기 사진 </a:t>
            </a:r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en-US" sz="500" dirty="0">
                <a:solidFill>
                  <a:schemeClr val="bg1">
                    <a:lumMod val="65000"/>
                  </a:schemeClr>
                </a:solidFill>
              </a:rPr>
              <a:t>연합뉴스</a:t>
            </a:r>
            <a:endParaRPr lang="en-US" altLang="ko-KR" sz="5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ko-KR" sz="5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ko-KR" altLang="en-US" sz="5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85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61</Words>
  <Application>Microsoft Office PowerPoint</Application>
  <PresentationFormat>와이드스크린</PresentationFormat>
  <Paragraphs>19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주영 강</dc:creator>
  <cp:lastModifiedBy>주영 강</cp:lastModifiedBy>
  <cp:revision>10</cp:revision>
  <dcterms:created xsi:type="dcterms:W3CDTF">2025-05-20T06:46:20Z</dcterms:created>
  <dcterms:modified xsi:type="dcterms:W3CDTF">2025-05-21T16:12:31Z</dcterms:modified>
</cp:coreProperties>
</file>